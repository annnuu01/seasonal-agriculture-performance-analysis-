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5" r:id="rId11"/>
    <p:sldId id="340" r:id="rId12"/>
    <p:sldId id="344"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9/11/2026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9/11/2026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9/11/2026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9/11/2026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900674" y="3013788"/>
            <a:ext cx="7980444" cy="765110"/>
          </a:xfrm>
        </p:spPr>
        <p:txBody>
          <a:bodyPr>
            <a:normAutofit fontScale="90000"/>
          </a:bodyPr>
          <a:lstStyle/>
          <a:p>
            <a:r>
              <a:rPr lang="en-GB" sz="3200" dirty="0"/>
              <a:t>Project Title-seasonal agriculture performance</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923330"/>
          </a:xfrm>
          <a:prstGeom prst="rect">
            <a:avLst/>
          </a:prstGeom>
          <a:noFill/>
        </p:spPr>
        <p:txBody>
          <a:bodyPr wrap="square" rtlCol="0">
            <a:spAutoFit/>
          </a:bodyPr>
          <a:lstStyle/>
          <a:p>
            <a:r>
              <a:rPr lang="en-US" b="1" dirty="0"/>
              <a:t>AICTE STU ID : </a:t>
            </a:r>
            <a:r>
              <a:rPr lang="en-IN" b="1" dirty="0"/>
              <a:t>STU68305739807b61747998521</a:t>
            </a:r>
            <a:endParaRPr lang="en-US" b="1" dirty="0"/>
          </a:p>
        </p:txBody>
      </p:sp>
      <p:sp>
        <p:nvSpPr>
          <p:cNvPr id="7" name="Text Placeholder 6">
            <a:extLst>
              <a:ext uri="{FF2B5EF4-FFF2-40B4-BE49-F238E27FC236}">
                <a16:creationId xmlns:a16="http://schemas.microsoft.com/office/drawing/2014/main" id="{7D92594B-1D17-0391-2C2A-9ED5346CBC0F}"/>
              </a:ext>
            </a:extLst>
          </p:cNvPr>
          <p:cNvSpPr>
            <a:spLocks noGrp="1"/>
          </p:cNvSpPr>
          <p:nvPr>
            <p:ph type="body" sz="quarter" idx="11"/>
          </p:nvPr>
        </p:nvSpPr>
        <p:spPr>
          <a:xfrm>
            <a:off x="6312871" y="4739951"/>
            <a:ext cx="4220845" cy="933061"/>
          </a:xfrm>
        </p:spPr>
        <p:txBody>
          <a:bodyPr>
            <a:normAutofit fontScale="92500" lnSpcReduction="20000"/>
          </a:bodyPr>
          <a:lstStyle/>
          <a:p>
            <a:r>
              <a:rPr lang="en-IN" dirty="0">
                <a:solidFill>
                  <a:schemeClr val="tx1"/>
                </a:solidFill>
              </a:rPr>
              <a:t>Name-Anu Bharti</a:t>
            </a:r>
          </a:p>
          <a:p>
            <a:r>
              <a:rPr lang="en-IN" dirty="0">
                <a:solidFill>
                  <a:schemeClr val="tx1"/>
                </a:solidFill>
              </a:rPr>
              <a:t>College name-Dronacharya government college </a:t>
            </a:r>
            <a:r>
              <a:rPr lang="en-IN" dirty="0" err="1">
                <a:solidFill>
                  <a:schemeClr val="tx1"/>
                </a:solidFill>
              </a:rPr>
              <a:t>gurugram</a:t>
            </a:r>
            <a:endParaRPr lang="en-IN" dirty="0">
              <a:solidFill>
                <a:schemeClr val="tx1"/>
              </a:solidFill>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36764" y="1950201"/>
            <a:ext cx="6431280" cy="3607987"/>
          </a:xfrm>
        </p:spPr>
        <p:txBody>
          <a:bodyPr vert="horz" lIns="91440" tIns="45720" rIns="91440" bIns="45720" rtlCol="0" anchor="t">
            <a:normAutofit fontScale="55000" lnSpcReduction="20000"/>
          </a:bodyPr>
          <a:lstStyle/>
          <a:p>
            <a:pPr marL="0" indent="0">
              <a:buNone/>
            </a:pPr>
            <a:endParaRPr lang="en-IN" sz="2800" b="1" dirty="0"/>
          </a:p>
          <a:p>
            <a:r>
              <a:rPr lang="en-IN" sz="2800" dirty="0"/>
              <a:t>Agricultural performance is not the same throughout the year. Changes in seasons can affect weather conditions, farming practices, water availability, crop growth, production, and profitability. However, the raw agricultural data contains a large amount of information that is difficult to understand without proper analysis.</a:t>
            </a:r>
          </a:p>
          <a:p>
            <a:r>
              <a:rPr lang="en-IN" sz="2800" dirty="0"/>
              <a:t>Therefore, this project aims to </a:t>
            </a:r>
            <a:r>
              <a:rPr lang="en-IN" sz="2800" dirty="0" err="1"/>
              <a:t>analyze</a:t>
            </a:r>
            <a:r>
              <a:rPr lang="en-IN" sz="2800" dirty="0"/>
              <a:t> the given agricultural dataset to understand how crop performance varies across different seasons. The analysis focuses on identifying meaningful patterns and relationships between factors such as rainfall, temperature, irrigation, soil conditions, water usage, yield, production, revenue, cost, and profit. The goal is to use data analysis and visualization to gain a clearer understanding of seasonal agricultural performance and identify factors that may be associated with better productivity and profitability.</a:t>
            </a:r>
          </a:p>
          <a:p>
            <a:pPr>
              <a:lnSpc>
                <a:spcPct val="10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AF5E51F3-31B0-0601-208D-428E9CABAA3F}"/>
              </a:ext>
            </a:extLst>
          </p:cNvPr>
          <p:cNvSpPr txBox="1"/>
          <p:nvPr/>
        </p:nvSpPr>
        <p:spPr>
          <a:xfrm>
            <a:off x="307910" y="1494314"/>
            <a:ext cx="6837196" cy="5355312"/>
          </a:xfrm>
          <a:prstGeom prst="rect">
            <a:avLst/>
          </a:prstGeom>
          <a:noFill/>
        </p:spPr>
        <p:txBody>
          <a:bodyPr wrap="square">
            <a:spAutoFit/>
          </a:bodyPr>
          <a:lstStyle/>
          <a:p>
            <a:pPr>
              <a:buNone/>
            </a:pPr>
            <a:r>
              <a:rPr lang="en-IN" dirty="0"/>
              <a:t>The </a:t>
            </a:r>
            <a:r>
              <a:rPr lang="en-IN" b="1" dirty="0"/>
              <a:t>Seasonal Agriculture Performance Analysis</a:t>
            </a:r>
            <a:r>
              <a:rPr lang="en-IN" dirty="0"/>
              <a:t> project focuses on understanding how agricultural performance varies across different crops, states, and seasons. The project uses a dataset containing information about crop yield, production, rainfall, temperature, soil conditions, irrigation methods, fertilizer and pesticide usage, water consumption, revenue, cost, profit, and disease or pest risk.</a:t>
            </a:r>
          </a:p>
          <a:p>
            <a:pPr>
              <a:buNone/>
            </a:pPr>
            <a:r>
              <a:rPr lang="en-IN" dirty="0"/>
              <a:t>Using Python in Google </a:t>
            </a:r>
            <a:r>
              <a:rPr lang="en-IN" dirty="0" err="1"/>
              <a:t>Colab</a:t>
            </a:r>
            <a:r>
              <a:rPr lang="en-IN" dirty="0"/>
              <a:t>, the dataset was explored, cleaned, and </a:t>
            </a:r>
            <a:r>
              <a:rPr lang="en-IN" dirty="0" err="1"/>
              <a:t>analyzed</a:t>
            </a:r>
            <a:r>
              <a:rPr lang="en-IN" dirty="0"/>
              <a:t> through statistical methods and data visualizations. Different factors were compared to identify patterns and relationships affecting agricultural productivity and profitability. The analysis also examines crop-wise, state-wise, and seasonal performance to identify the best-performing crops, regions, and seasons.</a:t>
            </a:r>
          </a:p>
          <a:p>
            <a:pPr>
              <a:buNone/>
            </a:pPr>
            <a:r>
              <a:rPr lang="en-IN" dirty="0"/>
              <a:t>The project aims to turn raw agricultural data into meaningful insights that can help in understanding productivity, resource efficiency, and economic performance, while demonstrating how data analysis can support better agricultural decision-making.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85000" lnSpcReduction="10000"/>
          </a:bodyPr>
          <a:lstStyle/>
          <a:p>
            <a:pPr marL="0" indent="0">
              <a:buNone/>
            </a:pPr>
            <a:endParaRPr lang="en-IN" sz="1800" b="1" dirty="0"/>
          </a:p>
          <a:p>
            <a:r>
              <a:rPr lang="en-IN" sz="1800" dirty="0"/>
              <a:t>The key end users of this project are:</a:t>
            </a:r>
          </a:p>
          <a:p>
            <a:pPr lvl="0"/>
            <a:r>
              <a:rPr lang="en-IN" sz="1800" b="1" dirty="0"/>
              <a:t>Farmers</a:t>
            </a:r>
            <a:r>
              <a:rPr lang="en-IN" sz="1800" dirty="0"/>
              <a:t> – To understand crop performance, seasonal trends, water usage, and profitability and make better farming decisions.</a:t>
            </a:r>
          </a:p>
          <a:p>
            <a:pPr lvl="0"/>
            <a:r>
              <a:rPr lang="en-IN" sz="1800" b="1" dirty="0"/>
              <a:t>Agricultural Researchers</a:t>
            </a:r>
            <a:r>
              <a:rPr lang="en-IN" sz="1800" dirty="0"/>
              <a:t> – To study relationships between environmental conditions, farming practices, crop yield, and agricultural productivity.</a:t>
            </a:r>
          </a:p>
          <a:p>
            <a:pPr lvl="0"/>
            <a:r>
              <a:rPr lang="en-IN" sz="1800" b="1" dirty="0"/>
              <a:t>Government Agricultural Departments</a:t>
            </a:r>
            <a:r>
              <a:rPr lang="en-IN" sz="1800" dirty="0"/>
              <a:t> – To support agricultural planning, resource allocation, and development of policies based on data-driven insights.</a:t>
            </a:r>
          </a:p>
          <a:p>
            <a:pPr lvl="0"/>
            <a:r>
              <a:rPr lang="en-IN" sz="1800" b="1" dirty="0"/>
              <a:t>Agricultural Consultants</a:t>
            </a:r>
            <a:r>
              <a:rPr lang="en-IN" sz="1800" dirty="0"/>
              <a:t> – To provide farmers with recommendations regarding crop selection, irrigation, resource utilization, and profitability.</a:t>
            </a:r>
          </a:p>
          <a:p>
            <a:pPr lvl="0"/>
            <a:r>
              <a:rPr lang="en-IN" sz="1800" b="1" dirty="0"/>
              <a:t>Agribusinesses and </a:t>
            </a:r>
            <a:r>
              <a:rPr lang="en-IN" sz="1800" b="1" dirty="0" err="1"/>
              <a:t>Agro</a:t>
            </a:r>
            <a:r>
              <a:rPr lang="en-IN" sz="1800" b="1" dirty="0"/>
              <a:t>-Companies</a:t>
            </a:r>
            <a:r>
              <a:rPr lang="en-IN" sz="1800" dirty="0"/>
              <a:t> – To understand crop production trends, market conditions, and profitability for better business planning.</a:t>
            </a:r>
          </a:p>
          <a:p>
            <a:pPr lvl="0"/>
            <a:r>
              <a:rPr lang="en-IN" sz="1800" b="1" dirty="0"/>
              <a:t>Students and Data Analysts</a:t>
            </a:r>
            <a:r>
              <a:rPr lang="en-IN" sz="1800" dirty="0"/>
              <a:t> – To study agricultural datasets and use data analysis and visualization techniques to understand real-world agricultural problems.</a:t>
            </a:r>
          </a:p>
          <a:p>
            <a:pPr algn="just">
              <a:lnSpc>
                <a:spcPct val="150000"/>
              </a:lnSpc>
            </a:pPr>
            <a:endParaRPr lang="en-IN" sz="18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6" end="6"/>
                                            </p:txEl>
                                          </p:spTgt>
                                        </p:tgtEl>
                                        <p:attrNameLst>
                                          <p:attrName>style.visibility</p:attrName>
                                        </p:attrNameLst>
                                      </p:cBhvr>
                                      <p:to>
                                        <p:strVal val="visible"/>
                                      </p:to>
                                    </p:set>
                                    <p:animEffect transition="in" filter="fade">
                                      <p:cBhvr>
                                        <p:cTn id="49" dur="1000"/>
                                        <p:tgtEl>
                                          <p:spTgt spid="2">
                                            <p:txEl>
                                              <p:pRg st="6" end="6"/>
                                            </p:txEl>
                                          </p:spTgt>
                                        </p:tgtEl>
                                      </p:cBhvr>
                                    </p:animEffect>
                                    <p:anim calcmode="lin" valueType="num">
                                      <p:cBhvr>
                                        <p:cTn id="50"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7" end="7"/>
                                            </p:txEl>
                                          </p:spTgt>
                                        </p:tgtEl>
                                        <p:attrNameLst>
                                          <p:attrName>style.visibility</p:attrName>
                                        </p:attrNameLst>
                                      </p:cBhvr>
                                      <p:to>
                                        <p:strVal val="visible"/>
                                      </p:to>
                                    </p:set>
                                    <p:animEffect transition="in" filter="fade">
                                      <p:cBhvr>
                                        <p:cTn id="56" dur="1000"/>
                                        <p:tgtEl>
                                          <p:spTgt spid="2">
                                            <p:txEl>
                                              <p:pRg st="7" end="7"/>
                                            </p:txEl>
                                          </p:spTgt>
                                        </p:tgtEl>
                                      </p:cBhvr>
                                    </p:animEffect>
                                    <p:anim calcmode="lin" valueType="num">
                                      <p:cBhvr>
                                        <p:cTn id="57"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091682" y="1432559"/>
            <a:ext cx="8326638" cy="5273993"/>
          </a:xfrm>
        </p:spPr>
        <p:txBody>
          <a:bodyPr>
            <a:normAutofit fontScale="85000" lnSpcReduction="20000"/>
          </a:bodyPr>
          <a:lstStyle/>
          <a:p>
            <a:pPr marL="0" indent="0">
              <a:buNone/>
            </a:pPr>
            <a:endParaRPr lang="en-IN" b="1" dirty="0"/>
          </a:p>
          <a:p>
            <a:pPr lvl="0"/>
            <a:r>
              <a:rPr lang="en-IN" b="1" dirty="0"/>
              <a:t>Python</a:t>
            </a:r>
            <a:r>
              <a:rPr lang="en-IN" dirty="0"/>
              <a:t> – Used for data analysis, calculations, and generating insights from the dataset.</a:t>
            </a:r>
          </a:p>
          <a:p>
            <a:pPr lvl="0"/>
            <a:r>
              <a:rPr lang="en-IN" b="1" dirty="0"/>
              <a:t>Google </a:t>
            </a:r>
            <a:r>
              <a:rPr lang="en-IN" b="1" dirty="0" err="1"/>
              <a:t>Colab</a:t>
            </a:r>
            <a:r>
              <a:rPr lang="en-IN" dirty="0"/>
              <a:t> – Used as the development environment for writing and executing Python code.</a:t>
            </a:r>
          </a:p>
          <a:p>
            <a:pPr lvl="0"/>
            <a:r>
              <a:rPr lang="en-IN" b="1" dirty="0"/>
              <a:t>Pandas</a:t>
            </a:r>
            <a:r>
              <a:rPr lang="en-IN" dirty="0"/>
              <a:t> – Used for data loading, cleaning, manipulation, and statistical analysis.</a:t>
            </a:r>
          </a:p>
          <a:p>
            <a:pPr lvl="0"/>
            <a:r>
              <a:rPr lang="en-IN" b="1" dirty="0"/>
              <a:t>NumPy</a:t>
            </a:r>
            <a:r>
              <a:rPr lang="en-IN" dirty="0"/>
              <a:t> – Used for numerical operations and data processing.</a:t>
            </a:r>
          </a:p>
          <a:p>
            <a:pPr lvl="0"/>
            <a:r>
              <a:rPr lang="en-IN" b="1" dirty="0"/>
              <a:t>Matplotlib</a:t>
            </a:r>
            <a:r>
              <a:rPr lang="en-IN" dirty="0"/>
              <a:t> – Used to create graphs and visualizations for the analysis.</a:t>
            </a:r>
          </a:p>
          <a:p>
            <a:pPr lvl="0"/>
            <a:r>
              <a:rPr lang="en-IN" b="1" dirty="0"/>
              <a:t>Seaborn</a:t>
            </a:r>
            <a:r>
              <a:rPr lang="en-IN" dirty="0"/>
              <a:t> – Used for advanced statistical visualizations and correlation heatmaps.</a:t>
            </a:r>
          </a:p>
          <a:p>
            <a:pPr lvl="0"/>
            <a:r>
              <a:rPr lang="en-IN" b="1" dirty="0"/>
              <a:t>CSV Dataset</a:t>
            </a:r>
            <a:r>
              <a:rPr lang="en-IN" dirty="0"/>
              <a:t> – Used as the primary data source for </a:t>
            </a:r>
            <a:r>
              <a:rPr lang="en-IN" dirty="0" err="1"/>
              <a:t>analyzing</a:t>
            </a:r>
            <a:r>
              <a:rPr lang="en-IN" dirty="0"/>
              <a:t> seasonal agricultural performance.</a:t>
            </a:r>
          </a:p>
          <a:p>
            <a:pPr marL="457200" lvl="1" indent="0">
              <a:lnSpc>
                <a:spcPct val="150000"/>
              </a:lnSpc>
              <a:buNone/>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1000"/>
                                        <p:tgtEl>
                                          <p:spTgt spid="7">
                                            <p:txEl>
                                              <p:pRg st="3" end="3"/>
                                            </p:txEl>
                                          </p:spTgt>
                                        </p:tgtEl>
                                      </p:cBhvr>
                                    </p:animEffect>
                                    <p:anim calcmode="lin" valueType="num">
                                      <p:cBhvr>
                                        <p:cTn id="2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fade">
                                      <p:cBhvr>
                                        <p:cTn id="35" dur="1000"/>
                                        <p:tgtEl>
                                          <p:spTgt spid="7">
                                            <p:txEl>
                                              <p:pRg st="4" end="4"/>
                                            </p:txEl>
                                          </p:spTgt>
                                        </p:tgtEl>
                                      </p:cBhvr>
                                    </p:animEffect>
                                    <p:anim calcmode="lin" valueType="num">
                                      <p:cBhvr>
                                        <p:cTn id="36"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5" end="5"/>
                                            </p:txEl>
                                          </p:spTgt>
                                        </p:tgtEl>
                                        <p:attrNameLst>
                                          <p:attrName>style.visibility</p:attrName>
                                        </p:attrNameLst>
                                      </p:cBhvr>
                                      <p:to>
                                        <p:strVal val="visible"/>
                                      </p:to>
                                    </p:set>
                                    <p:animEffect transition="in" filter="fade">
                                      <p:cBhvr>
                                        <p:cTn id="42" dur="1000"/>
                                        <p:tgtEl>
                                          <p:spTgt spid="7">
                                            <p:txEl>
                                              <p:pRg st="5" end="5"/>
                                            </p:txEl>
                                          </p:spTgt>
                                        </p:tgtEl>
                                      </p:cBhvr>
                                    </p:animEffect>
                                    <p:anim calcmode="lin" valueType="num">
                                      <p:cBhvr>
                                        <p:cTn id="4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6" end="6"/>
                                            </p:txEl>
                                          </p:spTgt>
                                        </p:tgtEl>
                                        <p:attrNameLst>
                                          <p:attrName>style.visibility</p:attrName>
                                        </p:attrNameLst>
                                      </p:cBhvr>
                                      <p:to>
                                        <p:strVal val="visible"/>
                                      </p:to>
                                    </p:set>
                                    <p:animEffect transition="in" filter="fade">
                                      <p:cBhvr>
                                        <p:cTn id="49" dur="1000"/>
                                        <p:tgtEl>
                                          <p:spTgt spid="7">
                                            <p:txEl>
                                              <p:pRg st="6" end="6"/>
                                            </p:txEl>
                                          </p:spTgt>
                                        </p:tgtEl>
                                      </p:cBhvr>
                                    </p:animEffect>
                                    <p:anim calcmode="lin" valueType="num">
                                      <p:cBhvr>
                                        <p:cTn id="50"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7" end="7"/>
                                            </p:txEl>
                                          </p:spTgt>
                                        </p:tgtEl>
                                        <p:attrNameLst>
                                          <p:attrName>style.visibility</p:attrName>
                                        </p:attrNameLst>
                                      </p:cBhvr>
                                      <p:to>
                                        <p:strVal val="visible"/>
                                      </p:to>
                                    </p:set>
                                    <p:animEffect transition="in" filter="fade">
                                      <p:cBhvr>
                                        <p:cTn id="56" dur="1000"/>
                                        <p:tgtEl>
                                          <p:spTgt spid="7">
                                            <p:txEl>
                                              <p:pRg st="7" end="7"/>
                                            </p:txEl>
                                          </p:spTgt>
                                        </p:tgtEl>
                                      </p:cBhvr>
                                    </p:animEffect>
                                    <p:anim calcmode="lin" valueType="num">
                                      <p:cBhvr>
                                        <p:cTn id="57"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EC9C5D3-6F25-5B50-2F3B-53E24D6B7FD0}"/>
              </a:ext>
            </a:extLst>
          </p:cNvPr>
          <p:cNvPicPr>
            <a:picLocks noChangeAspect="1"/>
          </p:cNvPicPr>
          <p:nvPr/>
        </p:nvPicPr>
        <p:blipFill>
          <a:blip r:embed="rId3"/>
          <a:stretch>
            <a:fillRect/>
          </a:stretch>
        </p:blipFill>
        <p:spPr>
          <a:xfrm>
            <a:off x="139960" y="1091682"/>
            <a:ext cx="9759820" cy="5380237"/>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2AFE916C-6E08-7DD7-DD08-32575EC7F294}"/>
              </a:ext>
            </a:extLst>
          </p:cNvPr>
          <p:cNvPicPr>
            <a:picLocks noChangeAspect="1"/>
          </p:cNvPicPr>
          <p:nvPr/>
        </p:nvPicPr>
        <p:blipFill>
          <a:blip r:embed="rId3"/>
          <a:stretch>
            <a:fillRect/>
          </a:stretch>
        </p:blipFill>
        <p:spPr>
          <a:xfrm>
            <a:off x="251928" y="1101012"/>
            <a:ext cx="9815803" cy="5563948"/>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C990FF65-AB43-C308-2430-8F8114DBEE5D}"/>
              </a:ext>
            </a:extLst>
          </p:cNvPr>
          <p:cNvPicPr>
            <a:picLocks noChangeAspect="1"/>
          </p:cNvPicPr>
          <p:nvPr/>
        </p:nvPicPr>
        <p:blipFill>
          <a:blip r:embed="rId3"/>
          <a:srcRect t="2462"/>
          <a:stretch>
            <a:fillRect/>
          </a:stretch>
        </p:blipFill>
        <p:spPr>
          <a:xfrm>
            <a:off x="251928" y="1105066"/>
            <a:ext cx="9797142" cy="546337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20A18864-DDB1-11F0-AE94-3FC2B116449D}"/>
              </a:ext>
            </a:extLst>
          </p:cNvPr>
          <p:cNvPicPr>
            <a:picLocks noChangeAspect="1"/>
          </p:cNvPicPr>
          <p:nvPr/>
        </p:nvPicPr>
        <p:blipFill>
          <a:blip r:embed="rId3"/>
          <a:stretch>
            <a:fillRect/>
          </a:stretch>
        </p:blipFill>
        <p:spPr>
          <a:xfrm>
            <a:off x="149291" y="1110343"/>
            <a:ext cx="9666514" cy="5290457"/>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5D16535E-C7CC-3EFB-D682-026513C50761}"/>
              </a:ext>
            </a:extLst>
          </p:cNvPr>
          <p:cNvPicPr>
            <a:picLocks noChangeAspect="1"/>
          </p:cNvPicPr>
          <p:nvPr/>
        </p:nvPicPr>
        <p:blipFill>
          <a:blip r:embed="rId3"/>
          <a:stretch>
            <a:fillRect/>
          </a:stretch>
        </p:blipFill>
        <p:spPr>
          <a:xfrm>
            <a:off x="195944" y="1110343"/>
            <a:ext cx="9974423" cy="5458408"/>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a:extLst>
              <a:ext uri="{FF2B5EF4-FFF2-40B4-BE49-F238E27FC236}">
                <a16:creationId xmlns:a16="http://schemas.microsoft.com/office/drawing/2014/main" id="{59B455BD-38B8-F6E6-CB50-E25847E3ABD1}"/>
              </a:ext>
            </a:extLst>
          </p:cNvPr>
          <p:cNvSpPr txBox="1"/>
          <p:nvPr/>
        </p:nvSpPr>
        <p:spPr>
          <a:xfrm>
            <a:off x="559837" y="1201586"/>
            <a:ext cx="7884367" cy="5632311"/>
          </a:xfrm>
          <a:prstGeom prst="rect">
            <a:avLst/>
          </a:prstGeom>
          <a:noFill/>
        </p:spPr>
        <p:txBody>
          <a:bodyPr wrap="square" rtlCol="0">
            <a:spAutoFit/>
          </a:bodyPr>
          <a:lstStyle/>
          <a:p>
            <a:r>
              <a:rPr lang="en-IN" dirty="0"/>
              <a:t>The project can be further improved and expanded in the following ways:</a:t>
            </a:r>
          </a:p>
          <a:p>
            <a:pPr lvl="0"/>
            <a:r>
              <a:rPr lang="en-IN" b="1" dirty="0"/>
              <a:t>Predictive Analysis:</a:t>
            </a:r>
            <a:r>
              <a:rPr lang="en-IN" dirty="0"/>
              <a:t> Machine learning models can be used to predict crop yield, production, and profit based on environmental and farming conditions.</a:t>
            </a:r>
          </a:p>
          <a:p>
            <a:pPr lvl="0"/>
            <a:r>
              <a:rPr lang="en-IN" b="1" dirty="0"/>
              <a:t>Weather Forecast Integration:</a:t>
            </a:r>
            <a:r>
              <a:rPr lang="en-IN" dirty="0"/>
              <a:t> Real-time weather data and forecasts can be included to improve seasonal crop planning.</a:t>
            </a:r>
          </a:p>
          <a:p>
            <a:pPr lvl="0"/>
            <a:r>
              <a:rPr lang="en-IN" b="1" dirty="0"/>
              <a:t>Crop Recommendation:</a:t>
            </a:r>
            <a:r>
              <a:rPr lang="en-IN" dirty="0"/>
              <a:t> A recommendation system can be developed to suggest suitable crops based on soil, rainfall, temperature, and water availability.</a:t>
            </a:r>
          </a:p>
          <a:p>
            <a:pPr lvl="0"/>
            <a:r>
              <a:rPr lang="en-IN" b="1" dirty="0"/>
              <a:t>Real-Time Data:</a:t>
            </a:r>
            <a:r>
              <a:rPr lang="en-IN" dirty="0"/>
              <a:t> Live data from farms, weather stations, and agricultural sensors can be integrated for more accurate analysis.</a:t>
            </a:r>
          </a:p>
          <a:p>
            <a:pPr lvl="0"/>
            <a:r>
              <a:rPr lang="en-IN" b="1" dirty="0"/>
              <a:t>Advanced Visualization:</a:t>
            </a:r>
            <a:r>
              <a:rPr lang="en-IN" dirty="0"/>
              <a:t> An interactive dashboard using Power BI or Tableau can be developed to help users explore the data easily.</a:t>
            </a:r>
          </a:p>
          <a:p>
            <a:pPr lvl="0"/>
            <a:r>
              <a:rPr lang="en-IN" b="1" dirty="0"/>
              <a:t>Risk Prediction:</a:t>
            </a:r>
            <a:r>
              <a:rPr lang="en-IN" dirty="0"/>
              <a:t> Future models can predict disease and pest risks and provide early warnings to farmers.</a:t>
            </a:r>
          </a:p>
          <a:p>
            <a:pPr lvl="0"/>
            <a:r>
              <a:rPr lang="en-IN" b="1" dirty="0"/>
              <a:t>Resource Optimization:</a:t>
            </a:r>
            <a:r>
              <a:rPr lang="en-IN" dirty="0"/>
              <a:t> Further analysis can help optimize water, fertilizer, and pesticide usage while maintaining good crop productivity.</a:t>
            </a:r>
          </a:p>
          <a:p>
            <a:pPr lvl="0"/>
            <a:r>
              <a:rPr lang="en-IN" b="1" dirty="0"/>
              <a:t>Market Analysis:</a:t>
            </a:r>
            <a:r>
              <a:rPr lang="en-IN" dirty="0"/>
              <a:t> Market price trends can be incorporated to help farmers identify more profitable crops and improve decision-making.</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256505" y="1114430"/>
            <a:ext cx="5839495" cy="646331"/>
          </a:xfrm>
          <a:prstGeom prst="rect">
            <a:avLst/>
          </a:prstGeom>
          <a:noFill/>
        </p:spPr>
        <p:txBody>
          <a:bodyPr wrap="square">
            <a:spAutoFit/>
          </a:bodyPr>
          <a:lstStyle/>
          <a:p>
            <a:r>
              <a:rPr lang="en-US" dirty="0"/>
              <a:t>https://github.com/annnuu01/Seasonal-Agriculture-Performance-Analysis-.git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D2E7B16-D874-3991-6D4C-2C6094A1703C}"/>
              </a:ext>
            </a:extLst>
          </p:cNvPr>
          <p:cNvPicPr>
            <a:picLocks noChangeAspect="1"/>
          </p:cNvPicPr>
          <p:nvPr/>
        </p:nvPicPr>
        <p:blipFill>
          <a:blip r:embed="rId3"/>
          <a:stretch>
            <a:fillRect/>
          </a:stretch>
        </p:blipFill>
        <p:spPr>
          <a:xfrm>
            <a:off x="586730" y="1343608"/>
            <a:ext cx="9527653" cy="543974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905069"/>
            <a:ext cx="9803682" cy="1174281"/>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1996751" y="2593910"/>
            <a:ext cx="7343192" cy="2258007"/>
          </a:xfrm>
        </p:spPr>
        <p:txBody>
          <a:bodyPr>
            <a:normAutofit/>
          </a:bodyPr>
          <a:lstStyle/>
          <a:p>
            <a:endParaRPr lang="en-IN" dirty="0"/>
          </a:p>
          <a:p>
            <a:r>
              <a:rPr lang="en-IN" dirty="0"/>
              <a:t>I sincerely thank my mentor and the teams at VOIS, Vodafone India, and AICTE for their valuable guidance, support, and encouragement throughout this learning journey.</a:t>
            </a:r>
          </a:p>
          <a:p>
            <a:r>
              <a:rPr lang="en-IN" dirty="0"/>
              <a:t>Thank you for your guidance and support.</a:t>
            </a:r>
          </a:p>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1474</TotalTime>
  <Words>848</Words>
  <Application>Microsoft Office PowerPoint</Application>
  <PresentationFormat>Widescreen</PresentationFormat>
  <Paragraphs>59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Title-seasonal agriculture performance</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Anu Bharti</cp:lastModifiedBy>
  <cp:revision>99</cp:revision>
  <dcterms:created xsi:type="dcterms:W3CDTF">2021-07-11T13:13:15Z</dcterms:created>
  <dcterms:modified xsi:type="dcterms:W3CDTF">2026-09-11T09:18:49Z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